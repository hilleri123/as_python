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28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6024BE-8B8F-4C20-835A-02317C1A3D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396560-D1F6-449B-9F03-9BF62B248E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D7E95C-ACFA-437F-B036-43E7B94FC9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BDEC43-0BD2-4440-B1AA-6F211483D5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3B6716-E824-4CC9-A97D-AD94F2229B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F708E6-D0D1-4826-A163-7BF62B13C0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98E136-E2AC-4F79-8BCC-34408F369E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3A5F94-5F5B-4B6C-A8ED-FD0CACD090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CC1653-E623-49D2-821A-80C8A291A6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4B6446-9AF2-4FE5-99B1-49EAD650F2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FD2778-02A0-4508-A950-31C0851B7F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BD6F8E-836E-49AB-8330-2FE986DCE8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1406827-4507-4D15-A65B-DA87C0E23FC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правки текста заглавия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" name="Rectangle 2"/>
          <p:cNvSpPr/>
          <p:nvPr/>
        </p:nvSpPr>
        <p:spPr>
          <a:xfrm>
            <a:off x="0" y="5074920"/>
            <a:ext cx="12191400" cy="1782720"/>
          </a:xfrm>
          <a:prstGeom prst="rect">
            <a:avLst/>
          </a:prstGeom>
          <a:solidFill>
            <a:srgbClr val="fff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731520" y="2103120"/>
            <a:ext cx="105152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8b3d2f"/>
                </a:solidFill>
                <a:latin typeface="Calibri"/>
                <a:ea typeface="Calibri"/>
              </a:rPr>
              <a:t>ПРАКТИКУМ ПО ПРОГРАММИРОВАНИЮ  ·  ЛЕКЦИЯ 01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731520" y="2560320"/>
            <a:ext cx="1051524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4000" spc="-1" strike="noStrike">
                <a:solidFill>
                  <a:srgbClr val="1f1a14"/>
                </a:solidFill>
                <a:latin typeface="Georgia"/>
                <a:ea typeface="Georgia"/>
              </a:rPr>
              <a:t>От бланка ЕГЭ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1f1a14"/>
                </a:solidFill>
                <a:latin typeface="Georgia"/>
                <a:ea typeface="Georgia"/>
              </a:rPr>
              <a:t>к Python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731520" y="5303520"/>
            <a:ext cx="10515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5c5348"/>
                </a:solidFill>
                <a:latin typeface="Calibri"/>
                <a:ea typeface="Calibri"/>
              </a:rPr>
              <a:t>Сначала решение как на экзамене. Потом те же шаги — в коде.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КАК ЧИТАТЬ ЭТУ ЛЕКЦИЮ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Три колонки у каждой задачи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2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6"/>
          <p:cNvSpPr/>
          <p:nvPr/>
        </p:nvSpPr>
        <p:spPr>
          <a:xfrm>
            <a:off x="640080" y="1554480"/>
            <a:ext cx="10789560" cy="14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условие — как в части с кратким ответом;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бланк — выкладка, которую вы отдали бы проверяющему;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Python — те же равенства и те же шаги, сверху вниз.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7"/>
          <p:cNvSpPr/>
          <p:nvPr/>
        </p:nvSpPr>
        <p:spPr>
          <a:xfrm>
            <a:off x="640080" y="457200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c5348"/>
                </a:solidFill>
                <a:latin typeface="Calibri"/>
                <a:ea typeface="Calibri"/>
              </a:rPr>
              <a:t>Язык ничего не придумывает. Он запрещает пропустить строку и посчитать «в уме».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ГЛАВНАЯ ЛОВУШКА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Знак «=» — не одно и то же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3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ounded Rectangle 6"/>
          <p:cNvSpPr/>
          <p:nvPr/>
        </p:nvSpPr>
        <p:spPr>
          <a:xfrm>
            <a:off x="640080" y="1645920"/>
            <a:ext cx="5211720" cy="255996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8b3d2f"/>
                </a:solidFill>
                <a:latin typeface="Calibri"/>
                <a:ea typeface="Calibri"/>
              </a:rPr>
              <a:t>На бланке ЕГЭ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x = 5 — утверждение: левая часть равна правой. Можно читать справа налево.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ounded Rectangle 7"/>
          <p:cNvSpPr/>
          <p:nvPr/>
        </p:nvSpPr>
        <p:spPr>
          <a:xfrm>
            <a:off x="6217920" y="1645920"/>
            <a:ext cx="5211720" cy="255996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8b3d2f"/>
                </a:solidFill>
                <a:latin typeface="Calibri"/>
                <a:ea typeface="Calibri"/>
              </a:rPr>
              <a:t>В Python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x = 5 — приказ: посчитать правую часть и положить результат в x.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8"/>
          <p:cNvSpPr/>
          <p:nvPr/>
        </p:nvSpPr>
        <p:spPr>
          <a:xfrm>
            <a:off x="640080" y="457200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c5348"/>
                </a:solidFill>
                <a:latin typeface="Calibri"/>
                <a:ea typeface="Calibri"/>
              </a:rPr>
              <a:t>Проверка равенства пишется ==. Иначе путаете уравнение и переписывание значения.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ПОЧЕМУ X = X + 1 НЕ БРЕД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Это не уравнение. Это следующий член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4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640080" y="150876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В алгебре «x = x + 1» решений нет. В программе это смена записи: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7"/>
          <p:cNvSpPr/>
          <p:nvPr/>
        </p:nvSpPr>
        <p:spPr>
          <a:xfrm>
            <a:off x="640080" y="2011680"/>
            <a:ext cx="10789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f1a14"/>
                </a:solidFill>
                <a:latin typeface="Georgia"/>
                <a:ea typeface="Georgia"/>
              </a:rPr>
              <a:t>взять старое a  →  прибавить d  →  записать снова в a.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ounded Rectangle 8"/>
          <p:cNvSpPr/>
          <p:nvPr/>
        </p:nvSpPr>
        <p:spPr>
          <a:xfrm>
            <a:off x="640080" y="2651760"/>
            <a:ext cx="10789560" cy="182844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a = 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d = 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a = a + d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# теперь a == 8, как a₂ при a₁ = 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640080" y="470916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c5348"/>
                </a:solidFill>
                <a:latin typeface="Calibri"/>
                <a:ea typeface="Calibri"/>
              </a:rPr>
              <a:t>Старое значение после этой строки больше не существует. Имя одно.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Б-ЧАСТЬ · 1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Степени и четыре действия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5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640080" y="150876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5c5348"/>
                </a:solidFill>
                <a:latin typeface="Calibri"/>
                <a:ea typeface="Calibri"/>
              </a:rPr>
              <a:t>Найдите значение выражения: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640080" y="1920240"/>
            <a:ext cx="107895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1a14"/>
                </a:solidFill>
                <a:latin typeface="Georgia"/>
                <a:ea typeface="Georgia"/>
              </a:rPr>
              <a:t>(2¹⁰ · 5⁴) / (2⁷ · 5)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640080" y="256032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5c5348"/>
                </a:solidFill>
                <a:latin typeface="Calibri"/>
                <a:ea typeface="Calibri"/>
              </a:rPr>
              <a:t>На бланке сокращаем показатели: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640080" y="3017520"/>
            <a:ext cx="10789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1f1a14"/>
                </a:solidFill>
                <a:latin typeface="Georgia"/>
                <a:ea typeface="Georgia"/>
              </a:rPr>
              <a:t>2¹⁰⁻⁷ · 5⁴⁻¹  =  2³ · 5³  =  8 · 125  =  1000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Б-ЧАСТЬ · 1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Те же шаги в Python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6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6"/>
          <p:cNvSpPr/>
          <p:nvPr/>
        </p:nvSpPr>
        <p:spPr>
          <a:xfrm>
            <a:off x="640080" y="1554480"/>
            <a:ext cx="10789560" cy="210276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num = 2**10 * 5**4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den = 2**7 * 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answer = num // den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print(answer)   # 1000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640080" y="3931920"/>
            <a:ext cx="107895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** — степень, // — деление нацело, когда ответ целый. Можно писать и /, тогда получится 1000.0.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Б-ЧАСТЬ · 2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Линейное уравнение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7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640080" y="146304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Решите уравнение 3(x + 4) = 5x − 2.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7"/>
          <p:cNvSpPr/>
          <p:nvPr/>
        </p:nvSpPr>
        <p:spPr>
          <a:xfrm>
            <a:off x="640080" y="1965960"/>
            <a:ext cx="5211720" cy="320004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8b3d2f"/>
                </a:solidFill>
                <a:latin typeface="Calibri"/>
                <a:ea typeface="Calibri"/>
              </a:rPr>
              <a:t>Бланк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3x + 12 = 5x − 2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12 + 2 = 5x − 3x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14 = 2x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x = 7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8"/>
          <p:cNvSpPr/>
          <p:nvPr/>
        </p:nvSpPr>
        <p:spPr>
          <a:xfrm>
            <a:off x="6126480" y="1965960"/>
            <a:ext cx="5394600" cy="320004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left = 12 + 2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coeff = 5 - 3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x = left / coeff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print(x)   # 7.0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Б-ЧАСТЬ · 3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Процент — это умножение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8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640080" y="146304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Найдите 12% от числа 250.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7"/>
          <p:cNvSpPr/>
          <p:nvPr/>
        </p:nvSpPr>
        <p:spPr>
          <a:xfrm>
            <a:off x="640080" y="1965960"/>
            <a:ext cx="5211720" cy="237708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8b3d2f"/>
                </a:solidFill>
                <a:latin typeface="Calibri"/>
                <a:ea typeface="Calibri"/>
              </a:rPr>
              <a:t>Бланк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250 · 12 / 100 = 30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ounded Rectangle 8"/>
          <p:cNvSpPr/>
          <p:nvPr/>
        </p:nvSpPr>
        <p:spPr>
          <a:xfrm>
            <a:off x="6126480" y="1965960"/>
            <a:ext cx="5394600" cy="237708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value = 250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 = 12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answer = value * p / 100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print(answer)   # 30.0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640080" y="466344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c5348"/>
                </a:solidFill>
                <a:latin typeface="Calibri"/>
                <a:ea typeface="Calibri"/>
              </a:rPr>
              <a:t>Никакой новой операции. Процент — запись дроби со знаменателем 100.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Б-ЧАСТЬ · 4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Квадратное уравнение, наименьший корень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9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6"/>
          <p:cNvSpPr/>
          <p:nvPr/>
        </p:nvSpPr>
        <p:spPr>
          <a:xfrm>
            <a:off x="640080" y="141732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Найдите наименьший корень уравнения x² − 9x + 20 = 0.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ounded Rectangle 7"/>
          <p:cNvSpPr/>
          <p:nvPr/>
        </p:nvSpPr>
        <p:spPr>
          <a:xfrm>
            <a:off x="640080" y="1874520"/>
            <a:ext cx="5211720" cy="329148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8b3d2f"/>
                </a:solidFill>
                <a:latin typeface="Calibri"/>
                <a:ea typeface="Calibri"/>
              </a:rPr>
              <a:t>Бланк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D = 81 − 80 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x = (9 ± 1)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x₁ = 5, x₂ = 4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ответ: 4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8"/>
          <p:cNvSpPr/>
          <p:nvPr/>
        </p:nvSpPr>
        <p:spPr>
          <a:xfrm>
            <a:off x="6126480" y="1874520"/>
            <a:ext cx="5394600" cy="329148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a, b, c = 1, -9, 20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D = b**2 - 4*a*c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x1 = (-b - D**0.5) / (2*a)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x2 = (-b + D**0.5) / (2*a)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print(min(x1, x2))   # 4.0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Б-ЧАСТЬ · 5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Член арифметической прогрессии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10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6"/>
          <p:cNvSpPr/>
          <p:nvPr/>
        </p:nvSpPr>
        <p:spPr>
          <a:xfrm>
            <a:off x="640080" y="141732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В прогрессии a₁ = 5, d = 3. Найдите a₁₂.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ounded Rectangle 7"/>
          <p:cNvSpPr/>
          <p:nvPr/>
        </p:nvSpPr>
        <p:spPr>
          <a:xfrm>
            <a:off x="640080" y="1920240"/>
            <a:ext cx="5211720" cy="255996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8b3d2f"/>
                </a:solidFill>
                <a:latin typeface="Calibri"/>
                <a:ea typeface="Calibri"/>
              </a:rPr>
              <a:t>Бланк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aₙ = a₁ + (n − 1)d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a₁₂ = 5 + 11 · 3 = 38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ounded Rectangle 8"/>
          <p:cNvSpPr/>
          <p:nvPr/>
        </p:nvSpPr>
        <p:spPr>
          <a:xfrm>
            <a:off x="6126480" y="1920240"/>
            <a:ext cx="5394600" cy="255996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a1, d, n = 5, 3, 12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an = a1 + (n - 1) * d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print(an)   # 38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9"/>
          <p:cNvSpPr/>
          <p:nvPr/>
        </p:nvSpPr>
        <p:spPr>
          <a:xfrm>
            <a:off x="640080" y="475488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c5348"/>
                </a:solidFill>
                <a:latin typeface="Calibri"/>
                <a:ea typeface="Calibri"/>
              </a:rPr>
              <a:t>Формула одна. Имена в коде — те же буквы, что на полях черновика.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ЗАЧЕМ ПЕРЕБОР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Иногда проще перебрать, чем искать формулу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11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640080" y="1645920"/>
            <a:ext cx="10789560" cy="21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На ЕГЭ вы сворачиваете в P(n, k) или C(n, k). В Python можно пройти все подходящие наборы и посчитать, сколько их вышло.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Если вариантов мало (цифры, числа до сотни, пары из шести) — «в лоб» честнее, чем ошибиться в формуле.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Цикл здесь — только счётчик. Подробно циклы будут на следующей лекции.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КОМБИНАТОРИКА · 1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Трёхзначные из {1, 2, 3, 4} без повторений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12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640080" y="155448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5c5348"/>
                </a:solidFill>
                <a:latin typeface="Calibri"/>
                <a:ea typeface="Calibri"/>
              </a:rPr>
              <a:t>Сколько таких чисел?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7"/>
          <p:cNvSpPr/>
          <p:nvPr/>
        </p:nvSpPr>
        <p:spPr>
          <a:xfrm>
            <a:off x="640080" y="2103120"/>
            <a:ext cx="10789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4 · 3 · 2  =  24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640080" y="3017520"/>
            <a:ext cx="107895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Первая цифра — 4 выбора, вторая — 3 оставшихся, третья — 2.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КОМБИНАТОРИКА · 1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Тот же 24 — перебором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13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ounded Rectangle 6"/>
          <p:cNvSpPr/>
          <p:nvPr/>
        </p:nvSpPr>
        <p:spPr>
          <a:xfrm>
            <a:off x="640080" y="1508760"/>
            <a:ext cx="10789560" cy="320004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for a in range(1, 5):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for b in range(1, 5):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for c in range(1, 5):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    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if len({a, b, c}) == 3: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        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count = count + 1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print(count)   # 24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7"/>
          <p:cNvSpPr/>
          <p:nvPr/>
        </p:nvSpPr>
        <p:spPr>
          <a:xfrm>
            <a:off x="640080" y="489204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c5348"/>
                </a:solidFill>
                <a:latin typeface="Calibri"/>
                <a:ea typeface="Calibri"/>
              </a:rPr>
              <a:t>Три вложенных прохода по цифрам. Множество из трёх элементов — все цифры разные.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КОМБИНАТОРИКА · 2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Делятся на 3 или на 5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14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640080" y="141732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Сколько натуральных чисел от 1 до 40 делятся на 3 или на 5?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7"/>
          <p:cNvSpPr/>
          <p:nvPr/>
        </p:nvSpPr>
        <p:spPr>
          <a:xfrm>
            <a:off x="640080" y="1920240"/>
            <a:ext cx="5211720" cy="320004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8b3d2f"/>
                </a:solidFill>
                <a:latin typeface="Calibri"/>
                <a:ea typeface="Calibri"/>
              </a:rPr>
              <a:t>Бланк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|A ∪ B| = |A| + |B| − |A ∩ B|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⌊</a:t>
            </a: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40/3⌋ + ⌊40/5⌋ − ⌊40/15⌋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13 + 8 − 2 = 19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ounded Rectangle 8"/>
          <p:cNvSpPr/>
          <p:nvPr/>
        </p:nvSpPr>
        <p:spPr>
          <a:xfrm>
            <a:off x="6126480" y="1920240"/>
            <a:ext cx="5394600" cy="320004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n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for k in range(1, 41):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if k % 3 == 0 or k % 5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n = n + 1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print(n)   # 19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КОМБИНАТОРИКА · 3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Выбрать двоих из шести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15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640080" y="141732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Сколькими способами выбрать 2 различных предмета из 6?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ounded Rectangle 7"/>
          <p:cNvSpPr/>
          <p:nvPr/>
        </p:nvSpPr>
        <p:spPr>
          <a:xfrm>
            <a:off x="640080" y="1874520"/>
            <a:ext cx="5211720" cy="29257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8b3d2f"/>
                </a:solidFill>
                <a:latin typeface="Calibri"/>
                <a:ea typeface="Calibri"/>
              </a:rPr>
              <a:t>Бланк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C(6, 2) = 6! / (2! · 4!)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= 15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ounded Rectangle 8"/>
          <p:cNvSpPr/>
          <p:nvPr/>
        </p:nvSpPr>
        <p:spPr>
          <a:xfrm>
            <a:off x="6126480" y="1874520"/>
            <a:ext cx="5394600" cy="29257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n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for i in range(1, 7):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for j in range(i + 1, 7):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n = n + 1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print(n)   # 15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640080" y="4983480"/>
            <a:ext cx="107895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5c5348"/>
                </a:solidFill>
                <a:latin typeface="Calibri"/>
                <a:ea typeface="Calibri"/>
              </a:rPr>
              <a:t>j начинается после i — чтобы не считать пару дважды и не брать предмет сам с собой.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ФУНКЦИИ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f(x) — формула с именем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16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640080" y="1508760"/>
            <a:ext cx="107895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1a14"/>
                </a:solidFill>
                <a:latin typeface="Georgia"/>
                <a:ea typeface="Georgia"/>
              </a:rPr>
              <a:t>f(x) = x² − 6x + 8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ounded Rectangle 7"/>
          <p:cNvSpPr/>
          <p:nvPr/>
        </p:nvSpPr>
        <p:spPr>
          <a:xfrm>
            <a:off x="640080" y="2148840"/>
            <a:ext cx="10789560" cy="15541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def f(x):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return x**2 - 6*x + 8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8"/>
          <p:cNvSpPr/>
          <p:nvPr/>
        </p:nvSpPr>
        <p:spPr>
          <a:xfrm>
            <a:off x="640080" y="393192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Аргумент — то, что подставляете. return — то, что обвели в рамку в конце решения.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ФУНКЦИИ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Подставить число — посчитать значение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17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6"/>
          <p:cNvSpPr/>
          <p:nvPr/>
        </p:nvSpPr>
        <p:spPr>
          <a:xfrm>
            <a:off x="640080" y="141732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Найдите f(0), f(2), f(5).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7"/>
          <p:cNvSpPr/>
          <p:nvPr/>
        </p:nvSpPr>
        <p:spPr>
          <a:xfrm>
            <a:off x="640080" y="1920240"/>
            <a:ext cx="5211720" cy="31086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8b3d2f"/>
                </a:solidFill>
                <a:latin typeface="Calibri"/>
                <a:ea typeface="Calibri"/>
              </a:rPr>
              <a:t>Бланк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f(0) = 8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f(2) = 4 − 12 + 8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f(5) = 25 − 30 + 8 = 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ounded Rectangle 8"/>
          <p:cNvSpPr/>
          <p:nvPr/>
        </p:nvSpPr>
        <p:spPr>
          <a:xfrm>
            <a:off x="6126480" y="1920240"/>
            <a:ext cx="5394600" cy="310860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print(f(0))   # 8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print(f(2))   #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print(f(5))   # 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ФУНКЦИИ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Корни — где график пересекает ось x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18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640080" y="146304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Решите f(x) = 0, то есть x² − 6x + 8 = 0.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7"/>
          <p:cNvSpPr/>
          <p:nvPr/>
        </p:nvSpPr>
        <p:spPr>
          <a:xfrm>
            <a:off x="640080" y="1965960"/>
            <a:ext cx="10789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f1a14"/>
                </a:solidFill>
                <a:latin typeface="Georgia"/>
                <a:ea typeface="Georgia"/>
              </a:rPr>
              <a:t>(x − 2)(x − 4) = 0    ⇒    x = 2 и x = 4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8"/>
          <p:cNvSpPr/>
          <p:nvPr/>
        </p:nvSpPr>
        <p:spPr>
          <a:xfrm>
            <a:off x="640080" y="2651760"/>
            <a:ext cx="10789560" cy="164556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for x in range(0, 9):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if f(x)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print(x)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9"/>
          <p:cNvSpPr/>
          <p:nvPr/>
        </p:nvSpPr>
        <p:spPr>
          <a:xfrm>
            <a:off x="640080" y="4526280"/>
            <a:ext cx="10789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c5348"/>
                </a:solidFill>
                <a:latin typeface="Calibri"/>
                <a:ea typeface="Calibri"/>
              </a:rPr>
              <a:t>Формула даёт оба корня сразу. Перебор целых x на отрезке — проверка: график правда проходит через эти точки.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ФУНКЦИИ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Пересечение двух графиков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19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6"/>
          <p:cNvSpPr/>
          <p:nvPr/>
        </p:nvSpPr>
        <p:spPr>
          <a:xfrm>
            <a:off x="640080" y="141732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Найдите точку пересечения прямых y = x + 1 и y = 2x − 3.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7"/>
          <p:cNvSpPr/>
          <p:nvPr/>
        </p:nvSpPr>
        <p:spPr>
          <a:xfrm>
            <a:off x="640080" y="1874520"/>
            <a:ext cx="5211720" cy="320004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8b3d2f"/>
                </a:solidFill>
                <a:latin typeface="Calibri"/>
                <a:ea typeface="Calibri"/>
              </a:rPr>
              <a:t>Бланк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x + 1 = 2x − 3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1 + 3 = 2x − x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x = 4, y = 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ounded Rectangle 8"/>
          <p:cNvSpPr/>
          <p:nvPr/>
        </p:nvSpPr>
        <p:spPr>
          <a:xfrm>
            <a:off x="6126480" y="1874520"/>
            <a:ext cx="5394600" cy="320004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for x in range(-10, 11):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if x + 1 == 2*x - 3: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print(x, x + 1)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# 4 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ТИПЫ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Число, текст и дата — разные вещи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20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6"/>
          <p:cNvSpPr/>
          <p:nvPr/>
        </p:nvSpPr>
        <p:spPr>
          <a:xfrm>
            <a:off x="640080" y="1554480"/>
            <a:ext cx="10789560" cy="13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7 и 7.0 — число (целое и с дробной частью);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"7" — текст, даже если внутри цифра;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дата — тройка (год, месяц, день), не одно число.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7"/>
          <p:cNvSpPr/>
          <p:nvPr/>
        </p:nvSpPr>
        <p:spPr>
          <a:xfrm>
            <a:off x="640080" y="429768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5c5348"/>
                </a:solidFill>
                <a:latin typeface="Calibri"/>
                <a:ea typeface="Calibri"/>
              </a:rPr>
              <a:t>"12" + "3" даст "123", а не 15. Это разные виды значений, не «ячейки таблицы».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СТРОКИ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Текст — последовательность символов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21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6"/>
          <p:cNvSpPr/>
          <p:nvPr/>
        </p:nvSpPr>
        <p:spPr>
          <a:xfrm>
            <a:off x="640080" y="1417320"/>
            <a:ext cx="1078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Как число состоит из цифр, слово состоит из букв. Нумерация с нуля.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ounded Rectangle 7"/>
          <p:cNvSpPr/>
          <p:nvPr/>
        </p:nvSpPr>
        <p:spPr>
          <a:xfrm>
            <a:off x="640080" y="1920240"/>
            <a:ext cx="10789560" cy="237708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s = "математика"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s[0]      # 'м'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s[-1]     # 'а'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s[0:4]    # 'мате'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len(s)    # 10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8"/>
          <p:cNvSpPr/>
          <p:nvPr/>
        </p:nvSpPr>
        <p:spPr>
          <a:xfrm>
            <a:off x="640080" y="452628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s[a:b] — срез: от позиции a до b, правый край не входит.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СТРОКИ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Сумма цифр числа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22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6"/>
          <p:cNvSpPr/>
          <p:nvPr/>
        </p:nvSpPr>
        <p:spPr>
          <a:xfrm>
            <a:off x="640080" y="141732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Найдите сумму цифр числа 2026.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ounded Rectangle 7"/>
          <p:cNvSpPr/>
          <p:nvPr/>
        </p:nvSpPr>
        <p:spPr>
          <a:xfrm>
            <a:off x="640080" y="1920240"/>
            <a:ext cx="5211720" cy="274284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90000" tIns="18288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8b3d2f"/>
                </a:solidFill>
                <a:latin typeface="Calibri"/>
                <a:ea typeface="Calibri"/>
              </a:rPr>
              <a:t>Бланк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US" sz="1800" spc="-1" strike="noStrike">
                <a:solidFill>
                  <a:srgbClr val="1f1a14"/>
                </a:solidFill>
                <a:latin typeface="Calibri"/>
                <a:ea typeface="Calibri"/>
              </a:rPr>
              <a:t>2 + 0 + 2 + 6 = 10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ounded Rectangle 8"/>
          <p:cNvSpPr/>
          <p:nvPr/>
        </p:nvSpPr>
        <p:spPr>
          <a:xfrm>
            <a:off x="6126480" y="1920240"/>
            <a:ext cx="5394600" cy="274284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s = "2026"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total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for ch in s: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    </a:t>
            </a: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total = total + int(ch)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print(total)   # 10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9"/>
          <p:cNvSpPr/>
          <p:nvPr/>
        </p:nvSpPr>
        <p:spPr>
          <a:xfrm>
            <a:off x="640080" y="4892040"/>
            <a:ext cx="107895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5c5348"/>
                </a:solidFill>
                <a:latin typeface="Calibri"/>
                <a:ea typeface="Calibri"/>
              </a:rPr>
              <a:t>int(ch) переводит символ-цифру в число, иначе сложите тексты.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СТРОКИ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Разворот и палиндром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23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ounded Rectangle 6"/>
          <p:cNvSpPr/>
          <p:nvPr/>
        </p:nvSpPr>
        <p:spPr>
          <a:xfrm>
            <a:off x="640080" y="1554480"/>
            <a:ext cx="10789560" cy="173700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word = "шалаш"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word[::-1]              # 'шалаш'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word == word[::-1]      # True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7"/>
          <p:cNvSpPr/>
          <p:nvPr/>
        </p:nvSpPr>
        <p:spPr>
          <a:xfrm>
            <a:off x="640080" y="3566160"/>
            <a:ext cx="1078956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Срез [::-1] идёт с конца. Если слово совпало с разворотом — палиндром.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То же для числа: записали как строку, развернули, сравнили.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СТРОКИ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Найти, посчитать, заменить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24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ounded Rectangle 6"/>
          <p:cNvSpPr/>
          <p:nvPr/>
        </p:nvSpPr>
        <p:spPr>
          <a:xfrm>
            <a:off x="640080" y="1508760"/>
            <a:ext cx="10789560" cy="237708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t = "три плюс три равно шесть"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t.find("плюс")       # 4  — позиция, или -1 если 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t.count("три")       #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t.replace("три", "3")# '3 плюс 3 равно шесть'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7"/>
          <p:cNvSpPr/>
          <p:nvPr/>
        </p:nvSpPr>
        <p:spPr>
          <a:xfrm>
            <a:off x="640080" y="416052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Это не формулы ЕГЭ. Это разбор текста, когда условие пришло словами, а не одним числом.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ДАТА И ВРЕМЯ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Дата — год, месяц, день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25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ounded Rectangle 6"/>
          <p:cNvSpPr/>
          <p:nvPr/>
        </p:nvSpPr>
        <p:spPr>
          <a:xfrm>
            <a:off x="640080" y="1508760"/>
            <a:ext cx="10789560" cy="219420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from datetime import date, timedelta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start = date(2026, 9, 1)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end = date(2026, 12, 31)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print(start.year, start.month, start.day)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640080" y="3977640"/>
            <a:ext cx="107895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Не считайте дни «на пальцах» и не храните дату одной строкой, если нужно вычитать. Для этого есть date.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ДАТА И ВРЕМЯ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Сколько дней между датами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26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6"/>
          <p:cNvSpPr/>
          <p:nvPr/>
        </p:nvSpPr>
        <p:spPr>
          <a:xfrm>
            <a:off x="640080" y="146304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От 1 сентября 2026 до 31 декабря 2026.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ounded Rectangle 7"/>
          <p:cNvSpPr/>
          <p:nvPr/>
        </p:nvSpPr>
        <p:spPr>
          <a:xfrm>
            <a:off x="640080" y="2011680"/>
            <a:ext cx="10789560" cy="146268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delta = end – start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print(delta.days)   # 121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8"/>
          <p:cNvSpPr/>
          <p:nvPr/>
        </p:nvSpPr>
        <p:spPr>
          <a:xfrm>
            <a:off x="640080" y="379476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Разность двух дат — не дата, а промежуток. У него поле days.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ДАТА И ВРЕМЯ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Прибавить дни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27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ounded Rectangle 6"/>
          <p:cNvSpPr/>
          <p:nvPr/>
        </p:nvSpPr>
        <p:spPr>
          <a:xfrm>
            <a:off x="640080" y="1554480"/>
            <a:ext cx="10789560" cy="164556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exam = date(2026, 6, 15)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print(exam + timedelta(days=14))   # 2026-06-29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print(exam.weekday())              # 0 — понедельник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7"/>
          <p:cNvSpPr/>
          <p:nvPr/>
        </p:nvSpPr>
        <p:spPr>
          <a:xfrm>
            <a:off x="640080" y="3474720"/>
            <a:ext cx="107895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weekday(): понедельник = 0, воскресенье = 6. timedelta — сдвиг на заданное число дней (или часов, если это дата-время).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ДАТА И ВРЕМЯ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Текст превратить в дату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28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ounded Rectangle 6"/>
          <p:cNvSpPr/>
          <p:nvPr/>
        </p:nvSpPr>
        <p:spPr>
          <a:xfrm>
            <a:off x="640080" y="1508760"/>
            <a:ext cx="10789560" cy="228564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55960" rIns="90000" tIns="164520" bIns="45000" anchor="ctr">
            <a:noAutofit/>
          </a:bodyPr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from datetime import datetime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raw = "15.06.2026"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d = datetime.strptime(raw, "%d.%m.%Y").date()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print(d)                 # 2026-06-15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1f1a14"/>
                </a:solidFill>
                <a:latin typeface="Consolas"/>
                <a:ea typeface="Consolas"/>
              </a:rPr>
              <a:t>print(d.strftime("%A"))  # Monday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7"/>
          <p:cNvSpPr/>
          <p:nvPr/>
        </p:nvSpPr>
        <p:spPr>
          <a:xfrm>
            <a:off x="640080" y="4069080"/>
            <a:ext cx="10789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f1a14"/>
                </a:solidFill>
                <a:latin typeface="Calibri"/>
                <a:ea typeface="Calibri"/>
              </a:rPr>
              <a:t>Шаблон %d.%m.%Y должен совпасть со строкой. Иначе Python не угадает, где день, а где месяц.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КАК ЧИТАТЬ ПРОГРАММУ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После каждой строки — что лежит в именах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29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6"/>
          <p:cNvSpPr/>
          <p:nvPr/>
        </p:nvSpPr>
        <p:spPr>
          <a:xfrm>
            <a:off x="640080" y="1645920"/>
            <a:ext cx="10789560" cy="14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какие имена изменились;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это ещё то же число, что на бланке, или уже другое;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•  </a:t>
            </a:r>
            <a:r>
              <a:rPr b="0" lang="en-US" sz="2400" spc="-1" strike="noStrike">
                <a:solidFill>
                  <a:srgbClr val="1f1a14"/>
                </a:solidFill>
                <a:latin typeface="Calibri"/>
                <a:ea typeface="Calibri"/>
              </a:rPr>
              <a:t>если запутались — задача слишком длинная: разрежьте на функции-формулы.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e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2"/>
          <p:cNvSpPr/>
          <p:nvPr/>
        </p:nvSpPr>
        <p:spPr>
          <a:xfrm>
            <a:off x="640080" y="32004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8b3d2f"/>
                </a:solidFill>
                <a:latin typeface="Calibri"/>
                <a:ea typeface="Calibri"/>
              </a:rPr>
              <a:t>НА ДОМ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3"/>
          <p:cNvSpPr/>
          <p:nvPr/>
        </p:nvSpPr>
        <p:spPr>
          <a:xfrm>
            <a:off x="640080" y="68580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1f1a14"/>
                </a:solidFill>
                <a:latin typeface="Georgia"/>
                <a:ea typeface="Georgia"/>
              </a:rPr>
              <a:t>Одна привычка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4"/>
          <p:cNvSpPr/>
          <p:nvPr/>
        </p:nvSpPr>
        <p:spPr>
          <a:xfrm>
            <a:off x="640080" y="6492240"/>
            <a:ext cx="7314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01  ·  Python как математика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5"/>
          <p:cNvSpPr/>
          <p:nvPr/>
        </p:nvSpPr>
        <p:spPr>
          <a:xfrm>
            <a:off x="10241280" y="6492240"/>
            <a:ext cx="1279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c5348"/>
                </a:solidFill>
                <a:latin typeface="Calibri"/>
                <a:ea typeface="Calibri"/>
              </a:rPr>
              <a:t>30 / 30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6"/>
          <p:cNvSpPr/>
          <p:nvPr/>
        </p:nvSpPr>
        <p:spPr>
          <a:xfrm>
            <a:off x="640080" y="1645920"/>
            <a:ext cx="1078956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800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Возьмите любую задачу с кратким ответом из открытого банка ЕГЭ. Напишите решение на бумаге. Перенесите те же шаги в Python, не короче и не «умнее».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b="0" lang="en-US" sz="2200" spc="-1" strike="noStrike">
                <a:solidFill>
                  <a:srgbClr val="1f1a14"/>
                </a:solidFill>
                <a:latin typeface="Calibri"/>
                <a:ea typeface="Calibri"/>
              </a:rPr>
              <a:t>Если на бумаге не сходится, в редакторе тоже не сойдётся — язык тут ни при чём.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2026-09-05T11:54:57Z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